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</c:v>
                </c:pt>
              </c:strCache>
            </c:strRef>
          </c:tx>
          <c:spPr>
            <a:solidFill>
              <a:srgbClr val="1C7293">
                <a:alpha val="9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A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PM10</c:v>
                  </c:pt>
                  <c:pt idx="1">
                    <c:v>CO</c:v>
                  </c:pt>
                  <c:pt idx="2">
                    <c:v>PM2.5</c:v>
                  </c:pt>
                  <c:pt idx="3">
                    <c:v>NO2</c:v>
                  </c:pt>
                  <c:pt idx="4">
                    <c:v>SO2</c:v>
                  </c:pt>
                  <c:pt idx="5">
                    <c:v>O3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</c:v>
                </c:pt>
                <c:pt idx="1">
                  <c:v>0.68</c:v>
                </c:pt>
                <c:pt idx="2">
                  <c:v>0.66</c:v>
                </c:pt>
                <c:pt idx="3">
                  <c:v>0.54</c:v>
                </c:pt>
                <c:pt idx="4">
                  <c:v>0.49</c:v>
                </c:pt>
                <c:pt idx="5">
                  <c:v>0.2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A2A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A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D9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6334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685800"/>
            <a:ext cx="1051560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ANALYTICS PROJECT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 Quality Index Analysis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548640" y="2971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pollutants and unhealthy-air conditions across major Indian cities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8640" y="3657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 ·  2015–2020  ·  26 cities  ·  29,531 daily records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5074920"/>
            <a:ext cx="1097280" cy="146304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523951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645920" y="5074920"/>
            <a:ext cx="1097280" cy="146304"/>
          </a:xfrm>
          <a:prstGeom prst="rect">
            <a:avLst/>
          </a:prstGeom>
          <a:solidFill>
            <a:srgbClr val="9CCC65"/>
          </a:solidFill>
          <a:ln/>
        </p:spPr>
      </p:sp>
      <p:sp>
        <p:nvSpPr>
          <p:cNvPr id="11" name="Text 8"/>
          <p:cNvSpPr/>
          <p:nvPr/>
        </p:nvSpPr>
        <p:spPr>
          <a:xfrm>
            <a:off x="1645920" y="523951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Satisfactory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743200" y="5074920"/>
            <a:ext cx="1097280" cy="146304"/>
          </a:xfrm>
          <a:prstGeom prst="rect">
            <a:avLst/>
          </a:prstGeom>
          <a:solidFill>
            <a:srgbClr val="FDD835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0" y="523951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840480" y="5074920"/>
            <a:ext cx="1097280" cy="14630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15" name="Text 12"/>
          <p:cNvSpPr/>
          <p:nvPr/>
        </p:nvSpPr>
        <p:spPr>
          <a:xfrm>
            <a:off x="3840480" y="523951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937760" y="5074920"/>
            <a:ext cx="1097280" cy="14630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0" y="523951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Poor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035040" y="5074920"/>
            <a:ext cx="1097280" cy="146304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523951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Central Pollution Control Board (CPCB) — Kaggle: Air Quality Data in India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126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analyses Air Quality Index (AQI) data to understand how air quality changes across selected locations and time periods.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examines AQI categories and the major pollutants — PM2.5, PM10, NO2, SO2, CO and O3 — to identify meaningful patterns in the data.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covers data preparation, exploratory analysis, visual interpretation and clear findings on pollution trends, pollutant relationships and unhealthy-air conditions.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12280" y="1371600"/>
            <a:ext cx="4983480" cy="4114800"/>
          </a:xfrm>
          <a:prstGeom prst="rect">
            <a:avLst/>
          </a:prstGeom>
          <a:solidFill>
            <a:srgbClr val="0E2436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0" y="14904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key pollutants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0" y="201168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6334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05472" y="212140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PM2.5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205472" y="25146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particles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01200" y="201168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6334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65792" y="212140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PM10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765792" y="25146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particles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32004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6334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05472" y="331012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05472" y="37033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dioxide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01200" y="32004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6334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65792" y="331012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SO₂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765792" y="37033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Sulphur dioxide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438912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6334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05472" y="449884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05472" y="48920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monoxide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01200" y="438912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6334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65792" y="449884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O₃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765792" y="48920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ozone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Dataset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1143000"/>
          </a:xfrm>
          <a:prstGeom prst="rect">
            <a:avLst/>
          </a:prstGeom>
          <a:solidFill>
            <a:srgbClr val="0E243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64208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C4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monitored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64992" y="1554480"/>
            <a:ext cx="2651760" cy="1143000"/>
          </a:xfrm>
          <a:prstGeom prst="rect">
            <a:avLst/>
          </a:prstGeom>
          <a:solidFill>
            <a:srgbClr val="0E243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64992" y="1664208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C4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29,531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64992" y="2286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records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81344" y="1554480"/>
            <a:ext cx="2651760" cy="1143000"/>
          </a:xfrm>
          <a:prstGeom prst="rect">
            <a:avLst/>
          </a:prstGeom>
          <a:solidFill>
            <a:srgbClr val="0E243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81344" y="1664208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C4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2015–20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81344" y="2286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covered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97696" y="1554480"/>
            <a:ext cx="2651760" cy="1143000"/>
          </a:xfrm>
          <a:prstGeom prst="rect">
            <a:avLst/>
          </a:prstGeom>
          <a:solidFill>
            <a:srgbClr val="0E243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97696" y="1664208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C4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97696" y="2286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pollutants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926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 of city_day.csv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6035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0233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name — 26 Indian cities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 date (daily, 2015–2020)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PM2.5 / PM10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Particulate matter (µg/m³)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NO2 / SO2 / O3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Gaseous pollutants (µg/m³)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 monoxide (mg/m³)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Quality Index 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AQI_Bucket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CPCB category: Good → Severe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7315200" y="2926080"/>
            <a:ext cx="4297680" cy="3154680"/>
          </a:xfrm>
          <a:prstGeom prst="rect">
            <a:avLst/>
          </a:prstGeom>
          <a:solidFill>
            <a:srgbClr val="F2F6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315200" y="2926080"/>
            <a:ext cx="82296" cy="31546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0" name="Text 17"/>
          <p:cNvSpPr/>
          <p:nvPr/>
        </p:nvSpPr>
        <p:spPr>
          <a:xfrm>
            <a:off x="7589520" y="30906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the data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589520" y="3493008"/>
            <a:ext cx="37947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by India's Central Pollution Control Board (CPCB).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monitoring data — pollutant columns contain missing values that are handled during cleaning.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without an AQI value are dropped; trace columns (NH3, Benzene, etc.) are set aside.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CPCB AQI categories range from Good (0–50) to Severe (401–500).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Research Questions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air quality vary over time and place, what drives it, and how often does it become unhealthy?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3383280"/>
          </a:xfrm>
          <a:prstGeom prst="rect">
            <a:avLst/>
          </a:prstGeom>
          <a:solidFill>
            <a:srgbClr val="F2F6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11680"/>
            <a:ext cx="3520440" cy="12801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1805940" y="242316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4540" y="265176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6118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RQ1 · Temporal Trends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420624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AQI change over time? Are there clear daily, monthly or seasonal patterns?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61688" y="2011680"/>
            <a:ext cx="3520440" cy="3383280"/>
          </a:xfrm>
          <a:prstGeom prst="rect">
            <a:avLst/>
          </a:prstGeom>
          <a:solidFill>
            <a:srgbClr val="F2F6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61688" y="2011680"/>
            <a:ext cx="3520440" cy="12801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Shape 10"/>
          <p:cNvSpPr/>
          <p:nvPr/>
        </p:nvSpPr>
        <p:spPr>
          <a:xfrm>
            <a:off x="5618988" y="2423160"/>
            <a:ext cx="1005840" cy="100584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588" y="265176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90288" y="36118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RQ2 · Pollutant Links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81728" y="420624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relationship between PM2.5, PM10, NO2, SO2, CO, O3 and the overall AQI category?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74736" y="2011680"/>
            <a:ext cx="3520440" cy="3383280"/>
          </a:xfrm>
          <a:prstGeom prst="rect">
            <a:avLst/>
          </a:prstGeom>
          <a:solidFill>
            <a:srgbClr val="F2F6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74736" y="2011680"/>
            <a:ext cx="3520440" cy="128016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9" name="Shape 15"/>
          <p:cNvSpPr/>
          <p:nvPr/>
        </p:nvSpPr>
        <p:spPr>
          <a:xfrm>
            <a:off x="9432036" y="2423160"/>
            <a:ext cx="1005840" cy="100584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0636" y="265176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03336" y="36118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RQ3 · Unhealthy Air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494776" y="420624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does air reach unhealthy or hazardous levels, and which cities are most affected?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RQ1 · TEMPORAL TRENDS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AQI climbs every winter and clears in the monsoon</a:t>
            </a:r>
            <a:endParaRPr lang="en-US" sz="2700" dirty="0"/>
          </a:p>
        </p:txBody>
      </p:sp>
      <p:pic>
        <p:nvPicPr>
          <p:cNvPr id="4" name="Image 0" descr="figures/fig1_monthly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66622"/>
            <a:ext cx="7040880" cy="3330596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818120" y="1554480"/>
            <a:ext cx="3840480" cy="4617720"/>
          </a:xfrm>
          <a:prstGeom prst="rect">
            <a:avLst/>
          </a:prstGeom>
          <a:solidFill>
            <a:srgbClr val="F2F6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818120" y="1554480"/>
            <a:ext cx="82296" cy="46177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4"/>
          <p:cNvSpPr/>
          <p:nvPr/>
        </p:nvSpPr>
        <p:spPr>
          <a:xfrm>
            <a:off x="8092440" y="17190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92440" y="2121408"/>
            <a:ext cx="33375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strong, repeating seasonal cycle: AQI peaks in winter (Dec–Jan) and post-monsoon.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readings come in the monsoon (Jul–Aug) when rain washes out particulates.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cities — Delhi and Lucknow — sit far above the rest all year.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dip in early 2020 lines up with the COVID-19 lockdown.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RQ1 · TEMPORAL TRENDS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Season drives AQI; the day of week barely matters</a:t>
            </a:r>
            <a:endParaRPr lang="en-US" sz="2700" dirty="0"/>
          </a:p>
        </p:txBody>
      </p:sp>
      <p:pic>
        <p:nvPicPr>
          <p:cNvPr id="4" name="Image 0" descr="figures/fig3_sea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25677"/>
            <a:ext cx="5212080" cy="3040887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pic>
        <p:nvPicPr>
          <p:cNvPr id="5" name="Image 1" descr="figures/fig4_dayofwee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52954"/>
            <a:ext cx="5486400" cy="2712012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548640" y="5166360"/>
            <a:ext cx="2606040" cy="1051560"/>
          </a:xfrm>
          <a:prstGeom prst="rect">
            <a:avLst/>
          </a:prstGeom>
          <a:solidFill>
            <a:srgbClr val="0E2436"/>
          </a:solidFill>
          <a:ln/>
        </p:spPr>
      </p:sp>
      <p:sp>
        <p:nvSpPr>
          <p:cNvPr id="7" name="Shape 3"/>
          <p:cNvSpPr/>
          <p:nvPr/>
        </p:nvSpPr>
        <p:spPr>
          <a:xfrm>
            <a:off x="548640" y="5166360"/>
            <a:ext cx="82296" cy="105156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8" name="Text 4"/>
          <p:cNvSpPr/>
          <p:nvPr/>
        </p:nvSpPr>
        <p:spPr>
          <a:xfrm>
            <a:off x="685800" y="52760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221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713232" y="584301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AQI · Winter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291840" y="5166360"/>
            <a:ext cx="2606040" cy="1051560"/>
          </a:xfrm>
          <a:prstGeom prst="rect">
            <a:avLst/>
          </a:prstGeom>
          <a:solidFill>
            <a:srgbClr val="0E2436"/>
          </a:solidFill>
          <a:ln/>
        </p:spPr>
      </p:sp>
      <p:sp>
        <p:nvSpPr>
          <p:cNvPr id="11" name="Shape 7"/>
          <p:cNvSpPr/>
          <p:nvPr/>
        </p:nvSpPr>
        <p:spPr>
          <a:xfrm>
            <a:off x="3291840" y="5166360"/>
            <a:ext cx="82296" cy="10515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2" name="Text 8"/>
          <p:cNvSpPr/>
          <p:nvPr/>
        </p:nvSpPr>
        <p:spPr>
          <a:xfrm>
            <a:off x="3429000" y="52760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215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3456432" y="584301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AQI · Post-Mon.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5040" y="5166360"/>
            <a:ext cx="2606040" cy="1051560"/>
          </a:xfrm>
          <a:prstGeom prst="rect">
            <a:avLst/>
          </a:prstGeom>
          <a:solidFill>
            <a:srgbClr val="0E2436"/>
          </a:solidFill>
          <a:ln/>
        </p:spPr>
      </p:sp>
      <p:sp>
        <p:nvSpPr>
          <p:cNvPr id="15" name="Shape 11"/>
          <p:cNvSpPr/>
          <p:nvPr/>
        </p:nvSpPr>
        <p:spPr>
          <a:xfrm>
            <a:off x="6035040" y="5166360"/>
            <a:ext cx="82296" cy="10515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6" name="Text 12"/>
          <p:cNvSpPr/>
          <p:nvPr/>
        </p:nvSpPr>
        <p:spPr>
          <a:xfrm>
            <a:off x="6172200" y="52760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148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6199632" y="584301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AQI · Summer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778240" y="5166360"/>
            <a:ext cx="2606040" cy="1051560"/>
          </a:xfrm>
          <a:prstGeom prst="rect">
            <a:avLst/>
          </a:prstGeom>
          <a:solidFill>
            <a:srgbClr val="0E2436"/>
          </a:solidFill>
          <a:ln/>
        </p:spPr>
      </p:sp>
      <p:sp>
        <p:nvSpPr>
          <p:cNvPr id="19" name="Shape 15"/>
          <p:cNvSpPr/>
          <p:nvPr/>
        </p:nvSpPr>
        <p:spPr>
          <a:xfrm>
            <a:off x="8778240" y="5166360"/>
            <a:ext cx="82296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6"/>
          <p:cNvSpPr/>
          <p:nvPr/>
        </p:nvSpPr>
        <p:spPr>
          <a:xfrm>
            <a:off x="8915400" y="52760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116</a:t>
            </a:r>
            <a:endParaRPr lang="en-US" sz="2700" dirty="0"/>
          </a:p>
        </p:txBody>
      </p:sp>
      <p:sp>
        <p:nvSpPr>
          <p:cNvPr id="21" name="Text 17"/>
          <p:cNvSpPr/>
          <p:nvPr/>
        </p:nvSpPr>
        <p:spPr>
          <a:xfrm>
            <a:off x="8942832" y="584301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AQI · Monsoon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RQ2 · POLLUTANT RELATIONSHIPS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Particulate matter drives the Air Quality Index</a:t>
            </a:r>
            <a:endParaRPr lang="en-US" sz="2700" dirty="0"/>
          </a:p>
        </p:txBody>
      </p:sp>
      <p:pic>
        <p:nvPicPr>
          <p:cNvPr id="4" name="Image 0" descr="figures/fig5_corr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73939"/>
            <a:ext cx="4754880" cy="4241641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852160" y="15087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Correlation of each pollutant with AQI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852160" y="1874520"/>
          <a:ext cx="58064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852160" y="4800600"/>
            <a:ext cx="5806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 (0.80), CO and PM2.5 (~0.67)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AQI most closely, while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 (0.20)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only weakly related — AQI is largely a particulate-matter story.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RQ2 · POLLUTANT RELATIONSHIPS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Pollutant levels rise step-by-step with each AQI category</a:t>
            </a:r>
            <a:endParaRPr lang="en-US" sz="2700" dirty="0"/>
          </a:p>
        </p:txBody>
      </p:sp>
      <p:pic>
        <p:nvPicPr>
          <p:cNvPr id="4" name="Image 0" descr="figures/fig6_pollutant_by_categ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75182"/>
            <a:ext cx="7040880" cy="3330596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818120" y="1554480"/>
            <a:ext cx="3840480" cy="4617720"/>
          </a:xfrm>
          <a:prstGeom prst="rect">
            <a:avLst/>
          </a:prstGeom>
          <a:solidFill>
            <a:srgbClr val="F2F6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818120" y="1554480"/>
            <a:ext cx="82296" cy="46177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4"/>
          <p:cNvSpPr/>
          <p:nvPr/>
        </p:nvSpPr>
        <p:spPr>
          <a:xfrm>
            <a:off x="8092440" y="17190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bars show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92440" y="2121408"/>
            <a:ext cx="33375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concentrations of every pollutant increase from Good to Severe.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and PM10 show the steepest climb across categories.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confirms the CPCB categories meaningfully separate real pollution levels.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 scaled ×50 so it is visible next to the particulates.)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RQ3 · UNHEALTHY CONDITIONS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in four city-days is unhealthy — the north bears the brunt</a:t>
            </a:r>
            <a:endParaRPr lang="en-US" sz="2700" dirty="0"/>
          </a:p>
        </p:txBody>
      </p:sp>
      <p:pic>
        <p:nvPicPr>
          <p:cNvPr id="4" name="Image 0" descr="figures/fig9_unhealthy_r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0498"/>
            <a:ext cx="6583680" cy="3939964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863840" y="1600200"/>
            <a:ext cx="3794760" cy="1371600"/>
          </a:xfrm>
          <a:prstGeom prst="rect">
            <a:avLst/>
          </a:prstGeom>
          <a:solidFill>
            <a:srgbClr val="0E243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01000" y="169164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82%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9692640" y="169164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Ahmedabad days unhealthy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863840" y="3136392"/>
            <a:ext cx="3794760" cy="1371600"/>
          </a:xfrm>
          <a:prstGeom prst="rect">
            <a:avLst/>
          </a:prstGeom>
          <a:solidFill>
            <a:srgbClr val="0E243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01000" y="3227832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C4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65%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9692640" y="3227832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days unhealthy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863840" y="4672584"/>
            <a:ext cx="3794760" cy="1371600"/>
          </a:xfrm>
          <a:prstGeom prst="rect">
            <a:avLst/>
          </a:prstGeom>
          <a:solidFill>
            <a:srgbClr val="0E243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01000" y="4764024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26%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9692640" y="4764024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cities overall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63840" y="62636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Ahmedabad shows some implausible AQI values (max ≈ 2049 vs the 500 ceiling), hinting at sensor issues.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RQ3 · UNHEALTHY CONDITIONS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Worst exposure: northern cities through Oct–Jan</a:t>
            </a:r>
            <a:endParaRPr lang="en-US" sz="2700" dirty="0"/>
          </a:p>
        </p:txBody>
      </p:sp>
      <p:pic>
        <p:nvPicPr>
          <p:cNvPr id="4" name="Image 0" descr="figures/fig11_unhealthy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248" y="1508760"/>
            <a:ext cx="6275344" cy="2606040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426110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Unhealthy-day summary (major cities)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5577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645920"/>
              </a:tblGrid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AQI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Unhealthy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Ahmedabad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Lucknow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Kolkata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Bengaluru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46520" y="4261104"/>
            <a:ext cx="5212080" cy="1783080"/>
          </a:xfrm>
          <a:prstGeom prst="rect">
            <a:avLst/>
          </a:prstGeom>
          <a:solidFill>
            <a:srgbClr val="F2F6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446520" y="4261104"/>
            <a:ext cx="82296" cy="17830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5"/>
          <p:cNvSpPr/>
          <p:nvPr/>
        </p:nvSpPr>
        <p:spPr>
          <a:xfrm>
            <a:off x="6720840" y="442569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&amp; where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720840" y="4828032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Unhealthy days concentrate in the cooler months (Oct–Jan) when air is stagnant.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&amp; coastal cities stay below ~7% of days unhealthy all year.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023360"/>
          </a:xfrm>
          <a:prstGeom prst="rect">
            <a:avLst/>
          </a:prstGeom>
          <a:solidFill>
            <a:srgbClr val="F2F6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31343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089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361188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follows a strong seasonal cycle — high in winter, low in the monsoon. Weekday effects are negligible; a 2020 lockdown dip is visible.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61688" y="1783080"/>
            <a:ext cx="3520440" cy="4023360"/>
          </a:xfrm>
          <a:prstGeom prst="rect">
            <a:avLst/>
          </a:prstGeom>
          <a:solidFill>
            <a:srgbClr val="F2F6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81728" y="2103120"/>
            <a:ext cx="868680" cy="86868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31343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1728" y="31089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Pollutants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81728" y="361188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Particulate matter (PM10, PM2.5) and CO correlate most with AQI; O3 least. Pollutant levels rise stepwise across AQI categories.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74736" y="1783080"/>
            <a:ext cx="3520440" cy="4023360"/>
          </a:xfrm>
          <a:prstGeom prst="rect">
            <a:avLst/>
          </a:prstGeom>
          <a:solidFill>
            <a:srgbClr val="F2F6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94776" y="2103120"/>
            <a:ext cx="868680" cy="86868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88" y="231343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94776" y="31089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Locations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494776" y="361188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~26% of city-days are unhealthy. Ahmedabad, Delhi and other northern cities are worst hit; coastal/southern cities stay cleaner.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3657600"/>
            <a:ext cx="5943600" cy="5943600"/>
          </a:xfrm>
          <a:prstGeom prst="ellipse">
            <a:avLst/>
          </a:prstGeom>
          <a:solidFill>
            <a:srgbClr val="16334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229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91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48640" y="26974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across Indian cities is driven mainly by season and particulate matter. </a:t>
            </a:r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clearest lever for cleaner air is reducing PM2.5/PM10 in northern cities during the winter months, </a:t>
            </a:r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unhealthy and hazardous days are concentrated.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548640" y="4937760"/>
            <a:ext cx="1097280" cy="146304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510235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645920" y="4937760"/>
            <a:ext cx="1097280" cy="146304"/>
          </a:xfrm>
          <a:prstGeom prst="rect">
            <a:avLst/>
          </a:prstGeom>
          <a:solidFill>
            <a:srgbClr val="9CCC65"/>
          </a:solidFill>
          <a:ln/>
        </p:spPr>
      </p:sp>
      <p:sp>
        <p:nvSpPr>
          <p:cNvPr id="9" name="Text 6"/>
          <p:cNvSpPr/>
          <p:nvPr/>
        </p:nvSpPr>
        <p:spPr>
          <a:xfrm>
            <a:off x="1645920" y="510235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Satisfactory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743200" y="4937760"/>
            <a:ext cx="1097280" cy="146304"/>
          </a:xfrm>
          <a:prstGeom prst="rect">
            <a:avLst/>
          </a:prstGeom>
          <a:solidFill>
            <a:srgbClr val="FDD835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0" y="510235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840480" y="4937760"/>
            <a:ext cx="1097280" cy="14630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13" name="Text 10"/>
          <p:cNvSpPr/>
          <p:nvPr/>
        </p:nvSpPr>
        <p:spPr>
          <a:xfrm>
            <a:off x="3840480" y="510235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937760" y="4937760"/>
            <a:ext cx="1097280" cy="14630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5" name="Text 12"/>
          <p:cNvSpPr/>
          <p:nvPr/>
        </p:nvSpPr>
        <p:spPr>
          <a:xfrm>
            <a:off x="4937760" y="510235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Poor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035040" y="4937760"/>
            <a:ext cx="1097280" cy="146304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7" name="Text 14"/>
          <p:cNvSpPr/>
          <p:nvPr/>
        </p:nvSpPr>
        <p:spPr>
          <a:xfrm>
            <a:off x="6035040" y="510235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Python (pandas, matplotlib, seaborn)  ·  Data: CPCB / Kaggle — Air Quality Data in India (2015–2020)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Quality Index Analysis</dc:title>
  <dc:subject>PptxGenJS Presentation</dc:subject>
  <dc:creator>AQI Analysis</dc:creator>
  <cp:lastModifiedBy>AQI Analysis</cp:lastModifiedBy>
  <cp:revision>1</cp:revision>
  <dcterms:created xsi:type="dcterms:W3CDTF">2026-06-06T09:47:11Z</dcterms:created>
  <dcterms:modified xsi:type="dcterms:W3CDTF">2026-06-06T09:47:11Z</dcterms:modified>
</cp:coreProperties>
</file>